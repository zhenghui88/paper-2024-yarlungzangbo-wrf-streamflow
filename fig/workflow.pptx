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</p:sldIdLst>
  <p:sldSz cx="2879725" cy="3095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834"/>
    <p:restoredTop sz="94668"/>
  </p:normalViewPr>
  <p:slideViewPr>
    <p:cSldViewPr snapToGrid="0">
      <p:cViewPr varScale="1">
        <p:scale>
          <a:sx n="263" d="100"/>
          <a:sy n="263" d="100"/>
        </p:scale>
        <p:origin x="22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980" y="506622"/>
            <a:ext cx="2447766" cy="1077736"/>
          </a:xfrm>
        </p:spPr>
        <p:txBody>
          <a:bodyPr anchor="b"/>
          <a:lstStyle>
            <a:lvl1pPr algn="ctr">
              <a:defRPr sz="18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9966" y="1625920"/>
            <a:ext cx="2159794" cy="747393"/>
          </a:xfrm>
        </p:spPr>
        <p:txBody>
          <a:bodyPr/>
          <a:lstStyle>
            <a:lvl1pPr marL="0" indent="0" algn="ctr">
              <a:buNone/>
              <a:defRPr sz="756"/>
            </a:lvl1pPr>
            <a:lvl2pPr marL="143972" indent="0" algn="ctr">
              <a:buNone/>
              <a:defRPr sz="630"/>
            </a:lvl2pPr>
            <a:lvl3pPr marL="287945" indent="0" algn="ctr">
              <a:buNone/>
              <a:defRPr sz="567"/>
            </a:lvl3pPr>
            <a:lvl4pPr marL="431917" indent="0" algn="ctr">
              <a:buNone/>
              <a:defRPr sz="504"/>
            </a:lvl4pPr>
            <a:lvl5pPr marL="575889" indent="0" algn="ctr">
              <a:buNone/>
              <a:defRPr sz="504"/>
            </a:lvl5pPr>
            <a:lvl6pPr marL="719861" indent="0" algn="ctr">
              <a:buNone/>
              <a:defRPr sz="504"/>
            </a:lvl6pPr>
            <a:lvl7pPr marL="863834" indent="0" algn="ctr">
              <a:buNone/>
              <a:defRPr sz="504"/>
            </a:lvl7pPr>
            <a:lvl8pPr marL="1007806" indent="0" algn="ctr">
              <a:buNone/>
              <a:defRPr sz="504"/>
            </a:lvl8pPr>
            <a:lvl9pPr marL="1151778" indent="0" algn="ctr">
              <a:buNone/>
              <a:defRPr sz="504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8934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1893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481" y="771757"/>
            <a:ext cx="2483763" cy="1287694"/>
          </a:xfrm>
        </p:spPr>
        <p:txBody>
          <a:bodyPr anchor="b"/>
          <a:lstStyle>
            <a:lvl1pPr>
              <a:defRPr sz="188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481" y="2071633"/>
            <a:ext cx="2483763" cy="677168"/>
          </a:xfrm>
        </p:spPr>
        <p:txBody>
          <a:bodyPr/>
          <a:lstStyle>
            <a:lvl1pPr marL="0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1pPr>
            <a:lvl2pPr marL="1439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2pPr>
            <a:lvl3pPr marL="287945" indent="0">
              <a:buNone/>
              <a:defRPr sz="567">
                <a:solidFill>
                  <a:schemeClr val="tx1">
                    <a:tint val="82000"/>
                  </a:schemeClr>
                </a:solidFill>
              </a:defRPr>
            </a:lvl3pPr>
            <a:lvl4pPr marL="431917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4pPr>
            <a:lvl5pPr marL="575889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5pPr>
            <a:lvl6pPr marL="719861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6pPr>
            <a:lvl7pPr marL="863834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7pPr>
            <a:lvl8pPr marL="1007806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8pPr>
            <a:lvl9pPr marL="1151778" indent="0">
              <a:buNone/>
              <a:defRPr sz="50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11251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7981" y="824067"/>
            <a:ext cx="1223883" cy="19641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7861" y="824067"/>
            <a:ext cx="1223883" cy="196414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188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164814"/>
            <a:ext cx="2483763" cy="5983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57" y="758858"/>
            <a:ext cx="1218258" cy="371905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3972" indent="0">
              <a:buNone/>
              <a:defRPr sz="630" b="1"/>
            </a:lvl2pPr>
            <a:lvl3pPr marL="287945" indent="0">
              <a:buNone/>
              <a:defRPr sz="567" b="1"/>
            </a:lvl3pPr>
            <a:lvl4pPr marL="431917" indent="0">
              <a:buNone/>
              <a:defRPr sz="504" b="1"/>
            </a:lvl4pPr>
            <a:lvl5pPr marL="575889" indent="0">
              <a:buNone/>
              <a:defRPr sz="504" b="1"/>
            </a:lvl5pPr>
            <a:lvl6pPr marL="719861" indent="0">
              <a:buNone/>
              <a:defRPr sz="504" b="1"/>
            </a:lvl6pPr>
            <a:lvl7pPr marL="863834" indent="0">
              <a:buNone/>
              <a:defRPr sz="504" b="1"/>
            </a:lvl7pPr>
            <a:lvl8pPr marL="1007806" indent="0">
              <a:buNone/>
              <a:defRPr sz="504" b="1"/>
            </a:lvl8pPr>
            <a:lvl9pPr marL="1151778" indent="0">
              <a:buNone/>
              <a:defRPr sz="5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57" y="1130763"/>
            <a:ext cx="1218258" cy="16631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7861" y="758858"/>
            <a:ext cx="1224258" cy="371905"/>
          </a:xfrm>
        </p:spPr>
        <p:txBody>
          <a:bodyPr anchor="b"/>
          <a:lstStyle>
            <a:lvl1pPr marL="0" indent="0">
              <a:buNone/>
              <a:defRPr sz="756" b="1"/>
            </a:lvl1pPr>
            <a:lvl2pPr marL="143972" indent="0">
              <a:buNone/>
              <a:defRPr sz="630" b="1"/>
            </a:lvl2pPr>
            <a:lvl3pPr marL="287945" indent="0">
              <a:buNone/>
              <a:defRPr sz="567" b="1"/>
            </a:lvl3pPr>
            <a:lvl4pPr marL="431917" indent="0">
              <a:buNone/>
              <a:defRPr sz="504" b="1"/>
            </a:lvl4pPr>
            <a:lvl5pPr marL="575889" indent="0">
              <a:buNone/>
              <a:defRPr sz="504" b="1"/>
            </a:lvl5pPr>
            <a:lvl6pPr marL="719861" indent="0">
              <a:buNone/>
              <a:defRPr sz="504" b="1"/>
            </a:lvl6pPr>
            <a:lvl7pPr marL="863834" indent="0">
              <a:buNone/>
              <a:defRPr sz="504" b="1"/>
            </a:lvl7pPr>
            <a:lvl8pPr marL="1007806" indent="0">
              <a:buNone/>
              <a:defRPr sz="504" b="1"/>
            </a:lvl8pPr>
            <a:lvl9pPr marL="1151778" indent="0">
              <a:buNone/>
              <a:defRPr sz="504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7861" y="1130763"/>
            <a:ext cx="1224258" cy="16631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41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583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8036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206375"/>
            <a:ext cx="928786" cy="722313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258" y="445713"/>
            <a:ext cx="1457861" cy="2199900"/>
          </a:xfrm>
        </p:spPr>
        <p:txBody>
          <a:bodyPr/>
          <a:lstStyle>
            <a:lvl1pPr>
              <a:defRPr sz="1008"/>
            </a:lvl1pPr>
            <a:lvl2pPr>
              <a:defRPr sz="882"/>
            </a:lvl2pPr>
            <a:lvl3pPr>
              <a:defRPr sz="756"/>
            </a:lvl3pPr>
            <a:lvl4pPr>
              <a:defRPr sz="630"/>
            </a:lvl4pPr>
            <a:lvl5pPr>
              <a:defRPr sz="630"/>
            </a:lvl5pPr>
            <a:lvl6pPr>
              <a:defRPr sz="630"/>
            </a:lvl6pPr>
            <a:lvl7pPr>
              <a:defRPr sz="630"/>
            </a:lvl7pPr>
            <a:lvl8pPr>
              <a:defRPr sz="630"/>
            </a:lvl8pPr>
            <a:lvl9pPr>
              <a:defRPr sz="63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928688"/>
            <a:ext cx="928786" cy="1720508"/>
          </a:xfrm>
        </p:spPr>
        <p:txBody>
          <a:bodyPr/>
          <a:lstStyle>
            <a:lvl1pPr marL="0" indent="0">
              <a:buNone/>
              <a:defRPr sz="504"/>
            </a:lvl1pPr>
            <a:lvl2pPr marL="143972" indent="0">
              <a:buNone/>
              <a:defRPr sz="441"/>
            </a:lvl2pPr>
            <a:lvl3pPr marL="287945" indent="0">
              <a:buNone/>
              <a:defRPr sz="378"/>
            </a:lvl3pPr>
            <a:lvl4pPr marL="431917" indent="0">
              <a:buNone/>
              <a:defRPr sz="315"/>
            </a:lvl4pPr>
            <a:lvl5pPr marL="575889" indent="0">
              <a:buNone/>
              <a:defRPr sz="315"/>
            </a:lvl5pPr>
            <a:lvl6pPr marL="719861" indent="0">
              <a:buNone/>
              <a:defRPr sz="315"/>
            </a:lvl6pPr>
            <a:lvl7pPr marL="863834" indent="0">
              <a:buNone/>
              <a:defRPr sz="315"/>
            </a:lvl7pPr>
            <a:lvl8pPr marL="1007806" indent="0">
              <a:buNone/>
              <a:defRPr sz="315"/>
            </a:lvl8pPr>
            <a:lvl9pPr marL="1151778" indent="0">
              <a:buNone/>
              <a:defRPr sz="3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017016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56" y="206375"/>
            <a:ext cx="928786" cy="722313"/>
          </a:xfrm>
        </p:spPr>
        <p:txBody>
          <a:bodyPr anchor="b"/>
          <a:lstStyle>
            <a:lvl1pPr>
              <a:defRPr sz="100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258" y="445713"/>
            <a:ext cx="1457861" cy="2199900"/>
          </a:xfrm>
        </p:spPr>
        <p:txBody>
          <a:bodyPr anchor="t"/>
          <a:lstStyle>
            <a:lvl1pPr marL="0" indent="0">
              <a:buNone/>
              <a:defRPr sz="1008"/>
            </a:lvl1pPr>
            <a:lvl2pPr marL="143972" indent="0">
              <a:buNone/>
              <a:defRPr sz="882"/>
            </a:lvl2pPr>
            <a:lvl3pPr marL="287945" indent="0">
              <a:buNone/>
              <a:defRPr sz="756"/>
            </a:lvl3pPr>
            <a:lvl4pPr marL="431917" indent="0">
              <a:buNone/>
              <a:defRPr sz="630"/>
            </a:lvl4pPr>
            <a:lvl5pPr marL="575889" indent="0">
              <a:buNone/>
              <a:defRPr sz="630"/>
            </a:lvl5pPr>
            <a:lvl6pPr marL="719861" indent="0">
              <a:buNone/>
              <a:defRPr sz="630"/>
            </a:lvl6pPr>
            <a:lvl7pPr marL="863834" indent="0">
              <a:buNone/>
              <a:defRPr sz="630"/>
            </a:lvl7pPr>
            <a:lvl8pPr marL="1007806" indent="0">
              <a:buNone/>
              <a:defRPr sz="630"/>
            </a:lvl8pPr>
            <a:lvl9pPr marL="1151778" indent="0">
              <a:buNone/>
              <a:defRPr sz="63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56" y="928688"/>
            <a:ext cx="928786" cy="1720508"/>
          </a:xfrm>
        </p:spPr>
        <p:txBody>
          <a:bodyPr/>
          <a:lstStyle>
            <a:lvl1pPr marL="0" indent="0">
              <a:buNone/>
              <a:defRPr sz="504"/>
            </a:lvl1pPr>
            <a:lvl2pPr marL="143972" indent="0">
              <a:buNone/>
              <a:defRPr sz="441"/>
            </a:lvl2pPr>
            <a:lvl3pPr marL="287945" indent="0">
              <a:buNone/>
              <a:defRPr sz="378"/>
            </a:lvl3pPr>
            <a:lvl4pPr marL="431917" indent="0">
              <a:buNone/>
              <a:defRPr sz="315"/>
            </a:lvl4pPr>
            <a:lvl5pPr marL="575889" indent="0">
              <a:buNone/>
              <a:defRPr sz="315"/>
            </a:lvl5pPr>
            <a:lvl6pPr marL="719861" indent="0">
              <a:buNone/>
              <a:defRPr sz="315"/>
            </a:lvl6pPr>
            <a:lvl7pPr marL="863834" indent="0">
              <a:buNone/>
              <a:defRPr sz="315"/>
            </a:lvl7pPr>
            <a:lvl8pPr marL="1007806" indent="0">
              <a:buNone/>
              <a:defRPr sz="315"/>
            </a:lvl8pPr>
            <a:lvl9pPr marL="1151778" indent="0">
              <a:buNone/>
              <a:defRPr sz="31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881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26394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0803" y="164813"/>
            <a:ext cx="620941" cy="26233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7981" y="164813"/>
            <a:ext cx="1826826" cy="262339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9187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7981" y="164814"/>
            <a:ext cx="2483763" cy="598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981" y="824067"/>
            <a:ext cx="2483763" cy="19641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7981" y="2869187"/>
            <a:ext cx="647938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936277-C41C-BD48-B2E2-AC7EAD890185}" type="datetimeFigureOut">
              <a:rPr kumimoji="1" lang="zh-CN" altLang="en-US" smtClean="0"/>
              <a:t>2025/10/9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3909" y="2869187"/>
            <a:ext cx="971907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3806" y="2869187"/>
            <a:ext cx="647938" cy="1648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ABE58A-124B-1042-84BD-31FB2D57BB7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03834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287945" rtl="0" eaLnBrk="1" latinLnBrk="0" hangingPunct="1">
        <a:lnSpc>
          <a:spcPct val="90000"/>
        </a:lnSpc>
        <a:spcBef>
          <a:spcPct val="0"/>
        </a:spcBef>
        <a:buNone/>
        <a:defRPr sz="138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1986" indent="-71986" algn="l" defTabSz="28794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1pPr>
      <a:lvl2pPr marL="215958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756" kern="1200">
          <a:solidFill>
            <a:schemeClr val="tx1"/>
          </a:solidFill>
          <a:latin typeface="+mn-lt"/>
          <a:ea typeface="+mn-ea"/>
          <a:cs typeface="+mn-cs"/>
        </a:defRPr>
      </a:lvl2pPr>
      <a:lvl3pPr marL="359931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3pPr>
      <a:lvl4pPr marL="503903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647875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91848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935820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79792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223764" indent="-71986" algn="l" defTabSz="287945" rtl="0" eaLnBrk="1" latinLnBrk="0" hangingPunct="1">
        <a:lnSpc>
          <a:spcPct val="90000"/>
        </a:lnSpc>
        <a:spcBef>
          <a:spcPts val="157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1pPr>
      <a:lvl2pPr marL="143972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87945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3pPr>
      <a:lvl4pPr marL="431917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4pPr>
      <a:lvl5pPr marL="575889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5pPr>
      <a:lvl6pPr marL="719861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6pPr>
      <a:lvl7pPr marL="863834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7pPr>
      <a:lvl8pPr marL="1007806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8pPr>
      <a:lvl9pPr marL="1151778" algn="l" defTabSz="287945" rtl="0" eaLnBrk="1" latinLnBrk="0" hangingPunct="1">
        <a:defRPr sz="5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角矩形 3">
            <a:extLst>
              <a:ext uri="{FF2B5EF4-FFF2-40B4-BE49-F238E27FC236}">
                <a16:creationId xmlns:a16="http://schemas.microsoft.com/office/drawing/2014/main" id="{3589C836-AAED-DDED-E9DC-807889175C6B}"/>
              </a:ext>
            </a:extLst>
          </p:cNvPr>
          <p:cNvSpPr/>
          <p:nvPr/>
        </p:nvSpPr>
        <p:spPr>
          <a:xfrm>
            <a:off x="35862" y="15086"/>
            <a:ext cx="2808000" cy="1296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ERA5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224162EF-3C59-CA57-56A5-623B76BFC554}"/>
              </a:ext>
            </a:extLst>
          </p:cNvPr>
          <p:cNvSpPr/>
          <p:nvPr/>
        </p:nvSpPr>
        <p:spPr>
          <a:xfrm>
            <a:off x="111231" y="277039"/>
            <a:ext cx="636455" cy="1800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WRF EXP1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D778FCD8-ABD5-1518-C2F6-EE0FFC189FF5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5400000">
            <a:off x="868485" y="-294340"/>
            <a:ext cx="132353" cy="1010404"/>
          </a:xfrm>
          <a:prstGeom prst="bentConnector3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肘形连接符 22">
            <a:extLst>
              <a:ext uri="{FF2B5EF4-FFF2-40B4-BE49-F238E27FC236}">
                <a16:creationId xmlns:a16="http://schemas.microsoft.com/office/drawing/2014/main" id="{42ED0001-9725-D52F-F459-E77CF6DDD69C}"/>
              </a:ext>
            </a:extLst>
          </p:cNvPr>
          <p:cNvCxnSpPr>
            <a:cxnSpLocks/>
            <a:stCxn id="4" idx="2"/>
            <a:endCxn id="162" idx="0"/>
          </p:cNvCxnSpPr>
          <p:nvPr/>
        </p:nvCxnSpPr>
        <p:spPr>
          <a:xfrm rot="5400000">
            <a:off x="1371043" y="208219"/>
            <a:ext cx="132353" cy="5289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肘形连接符 25">
            <a:extLst>
              <a:ext uri="{FF2B5EF4-FFF2-40B4-BE49-F238E27FC236}">
                <a16:creationId xmlns:a16="http://schemas.microsoft.com/office/drawing/2014/main" id="{877AD38A-1E0B-C504-5519-0B294C51E2E7}"/>
              </a:ext>
            </a:extLst>
          </p:cNvPr>
          <p:cNvCxnSpPr>
            <a:cxnSpLocks/>
            <a:stCxn id="4" idx="2"/>
            <a:endCxn id="161" idx="0"/>
          </p:cNvCxnSpPr>
          <p:nvPr/>
        </p:nvCxnSpPr>
        <p:spPr>
          <a:xfrm rot="16200000" flipH="1">
            <a:off x="1873600" y="-289052"/>
            <a:ext cx="132353" cy="999827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直线箭头连接符 90">
            <a:extLst>
              <a:ext uri="{FF2B5EF4-FFF2-40B4-BE49-F238E27FC236}">
                <a16:creationId xmlns:a16="http://schemas.microsoft.com/office/drawing/2014/main" id="{802B46B9-3371-B672-A13E-7F89626CF03A}"/>
              </a:ext>
            </a:extLst>
          </p:cNvPr>
          <p:cNvCxnSpPr>
            <a:cxnSpLocks/>
            <a:stCxn id="5" idx="2"/>
            <a:endCxn id="2" idx="0"/>
          </p:cNvCxnSpPr>
          <p:nvPr/>
        </p:nvCxnSpPr>
        <p:spPr>
          <a:xfrm flipH="1">
            <a:off x="426780" y="457040"/>
            <a:ext cx="2679" cy="71919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C494F6AE-7760-AAB0-8211-BC142A701297}"/>
              </a:ext>
            </a:extLst>
          </p:cNvPr>
          <p:cNvCxnSpPr>
            <a:cxnSpLocks/>
            <a:stCxn id="162" idx="2"/>
            <a:endCxn id="7" idx="0"/>
          </p:cNvCxnSpPr>
          <p:nvPr/>
        </p:nvCxnSpPr>
        <p:spPr>
          <a:xfrm>
            <a:off x="1434574" y="457040"/>
            <a:ext cx="4655" cy="71919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直线箭头连接符 97">
            <a:extLst>
              <a:ext uri="{FF2B5EF4-FFF2-40B4-BE49-F238E27FC236}">
                <a16:creationId xmlns:a16="http://schemas.microsoft.com/office/drawing/2014/main" id="{68AA7F9D-D2A8-2A5B-5856-79D04364B544}"/>
              </a:ext>
            </a:extLst>
          </p:cNvPr>
          <p:cNvCxnSpPr>
            <a:cxnSpLocks/>
            <a:stCxn id="161" idx="2"/>
            <a:endCxn id="8" idx="0"/>
          </p:cNvCxnSpPr>
          <p:nvPr/>
        </p:nvCxnSpPr>
        <p:spPr>
          <a:xfrm>
            <a:off x="2439689" y="457040"/>
            <a:ext cx="4" cy="71919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圆角矩形 1">
            <a:extLst>
              <a:ext uri="{FF2B5EF4-FFF2-40B4-BE49-F238E27FC236}">
                <a16:creationId xmlns:a16="http://schemas.microsoft.com/office/drawing/2014/main" id="{835CF091-A638-6DE5-6F61-27F1E06A6E10}"/>
              </a:ext>
            </a:extLst>
          </p:cNvPr>
          <p:cNvSpPr/>
          <p:nvPr/>
        </p:nvSpPr>
        <p:spPr>
          <a:xfrm>
            <a:off x="247625" y="528958"/>
            <a:ext cx="358309" cy="1800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Runoff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919E8A8-3E2D-1CD6-79AB-632926003B85}"/>
              </a:ext>
            </a:extLst>
          </p:cNvPr>
          <p:cNvSpPr/>
          <p:nvPr/>
        </p:nvSpPr>
        <p:spPr>
          <a:xfrm>
            <a:off x="1260074" y="528958"/>
            <a:ext cx="358309" cy="1800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Runoff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BB43C4E7-57F1-DD1A-B5E5-8F8278DB427A}"/>
              </a:ext>
            </a:extLst>
          </p:cNvPr>
          <p:cNvSpPr/>
          <p:nvPr/>
        </p:nvSpPr>
        <p:spPr>
          <a:xfrm>
            <a:off x="2259911" y="528958"/>
            <a:ext cx="359565" cy="1800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Runoff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CAFD9A69-1FE2-A228-8E5C-1070964E4A18}"/>
              </a:ext>
            </a:extLst>
          </p:cNvPr>
          <p:cNvCxnSpPr>
            <a:cxnSpLocks/>
            <a:stCxn id="2" idx="2"/>
            <a:endCxn id="18" idx="0"/>
          </p:cNvCxnSpPr>
          <p:nvPr/>
        </p:nvCxnSpPr>
        <p:spPr>
          <a:xfrm flipH="1">
            <a:off x="426775" y="708961"/>
            <a:ext cx="2" cy="102539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DB07D9A1-DEF0-0D2E-C0CA-2AAD7CC86127}"/>
              </a:ext>
            </a:extLst>
          </p:cNvPr>
          <p:cNvCxnSpPr>
            <a:cxnSpLocks/>
            <a:stCxn id="7" idx="2"/>
            <a:endCxn id="19" idx="0"/>
          </p:cNvCxnSpPr>
          <p:nvPr/>
        </p:nvCxnSpPr>
        <p:spPr>
          <a:xfrm>
            <a:off x="1439226" y="708961"/>
            <a:ext cx="636" cy="99701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08BCB3D8-7010-FECC-1D01-07EFE30D9F04}"/>
              </a:ext>
            </a:extLst>
          </p:cNvPr>
          <p:cNvCxnSpPr>
            <a:cxnSpLocks/>
            <a:stCxn id="8" idx="2"/>
            <a:endCxn id="15" idx="0"/>
          </p:cNvCxnSpPr>
          <p:nvPr/>
        </p:nvCxnSpPr>
        <p:spPr>
          <a:xfrm flipH="1">
            <a:off x="2439689" y="708961"/>
            <a:ext cx="2" cy="107179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296415AA-A9BD-84B6-A033-6B3AEF3D96FE}"/>
              </a:ext>
            </a:extLst>
          </p:cNvPr>
          <p:cNvSpPr/>
          <p:nvPr/>
        </p:nvSpPr>
        <p:spPr>
          <a:xfrm>
            <a:off x="2025407" y="816137"/>
            <a:ext cx="828564" cy="355998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Calibration of the Muskingum parameter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87E5B590-B8D8-72E4-E889-4FF2B2418445}"/>
              </a:ext>
            </a:extLst>
          </p:cNvPr>
          <p:cNvSpPr/>
          <p:nvPr/>
        </p:nvSpPr>
        <p:spPr>
          <a:xfrm>
            <a:off x="12493" y="811497"/>
            <a:ext cx="828564" cy="355998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Calibration of the Muskingum parameter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12D53CDC-E05D-0822-8458-3935D82E73E3}"/>
              </a:ext>
            </a:extLst>
          </p:cNvPr>
          <p:cNvSpPr/>
          <p:nvPr/>
        </p:nvSpPr>
        <p:spPr>
          <a:xfrm>
            <a:off x="1025580" y="808659"/>
            <a:ext cx="828564" cy="355998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Calibration of the Muskingum parameter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ED5A35CA-1B0E-A76B-F970-B1A00BDC9CB6}"/>
              </a:ext>
            </a:extLst>
          </p:cNvPr>
          <p:cNvSpPr/>
          <p:nvPr/>
        </p:nvSpPr>
        <p:spPr>
          <a:xfrm>
            <a:off x="111232" y="1313736"/>
            <a:ext cx="2657263" cy="177087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Fitting the calibrated celerity to a log-normal distribution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8EB49D7B-B125-1093-3722-1EF05F489296}"/>
              </a:ext>
            </a:extLst>
          </p:cNvPr>
          <p:cNvCxnSpPr>
            <a:cxnSpLocks/>
            <a:stCxn id="18" idx="2"/>
            <a:endCxn id="48" idx="0"/>
          </p:cNvCxnSpPr>
          <p:nvPr/>
        </p:nvCxnSpPr>
        <p:spPr>
          <a:xfrm rot="16200000" flipH="1">
            <a:off x="860199" y="734071"/>
            <a:ext cx="146240" cy="1013088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肘形连接符 54">
            <a:extLst>
              <a:ext uri="{FF2B5EF4-FFF2-40B4-BE49-F238E27FC236}">
                <a16:creationId xmlns:a16="http://schemas.microsoft.com/office/drawing/2014/main" id="{7017B39A-F9CA-35FC-B34E-A861F9DE40FD}"/>
              </a:ext>
            </a:extLst>
          </p:cNvPr>
          <p:cNvCxnSpPr>
            <a:cxnSpLocks/>
            <a:stCxn id="19" idx="2"/>
            <a:endCxn id="48" idx="0"/>
          </p:cNvCxnSpPr>
          <p:nvPr/>
        </p:nvCxnSpPr>
        <p:spPr>
          <a:xfrm rot="16200000" flipH="1">
            <a:off x="1365323" y="1239196"/>
            <a:ext cx="149078" cy="1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肘形连接符 57">
            <a:extLst>
              <a:ext uri="{FF2B5EF4-FFF2-40B4-BE49-F238E27FC236}">
                <a16:creationId xmlns:a16="http://schemas.microsoft.com/office/drawing/2014/main" id="{213596F7-95EB-DA5E-2AF8-605D59B4B336}"/>
              </a:ext>
            </a:extLst>
          </p:cNvPr>
          <p:cNvCxnSpPr>
            <a:cxnSpLocks/>
            <a:stCxn id="15" idx="2"/>
            <a:endCxn id="48" idx="0"/>
          </p:cNvCxnSpPr>
          <p:nvPr/>
        </p:nvCxnSpPr>
        <p:spPr>
          <a:xfrm rot="5400000">
            <a:off x="1868976" y="743022"/>
            <a:ext cx="141600" cy="999826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FFBE28EB-F5E5-AB5B-9677-4A91A6C0CA49}"/>
              </a:ext>
            </a:extLst>
          </p:cNvPr>
          <p:cNvSpPr/>
          <p:nvPr/>
        </p:nvSpPr>
        <p:spPr>
          <a:xfrm>
            <a:off x="35458" y="1576548"/>
            <a:ext cx="2808808" cy="177087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Draw 100 independent random samples from the distribution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BC355483-4FC5-86AE-B1F6-80379A1EC857}"/>
              </a:ext>
            </a:extLst>
          </p:cNvPr>
          <p:cNvCxnSpPr>
            <a:cxnSpLocks/>
            <a:stCxn id="48" idx="2"/>
            <a:endCxn id="61" idx="0"/>
          </p:cNvCxnSpPr>
          <p:nvPr/>
        </p:nvCxnSpPr>
        <p:spPr>
          <a:xfrm flipH="1">
            <a:off x="1439863" y="1490823"/>
            <a:ext cx="1" cy="85725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7CDCF52D-7E32-6AD0-3B12-35A4940911AB}"/>
              </a:ext>
            </a:extLst>
          </p:cNvPr>
          <p:cNvSpPr/>
          <p:nvPr/>
        </p:nvSpPr>
        <p:spPr>
          <a:xfrm>
            <a:off x="45163" y="1885466"/>
            <a:ext cx="828564" cy="24744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Muskingum Simulations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60A2ACDE-3BBF-B2AD-0708-8D5237DC6F9A}"/>
              </a:ext>
            </a:extLst>
          </p:cNvPr>
          <p:cNvSpPr/>
          <p:nvPr/>
        </p:nvSpPr>
        <p:spPr>
          <a:xfrm>
            <a:off x="1022473" y="1885466"/>
            <a:ext cx="828564" cy="24744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Muskingum Simulations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8A06575C-3434-B038-4637-03A3B11A4F7B}"/>
              </a:ext>
            </a:extLst>
          </p:cNvPr>
          <p:cNvSpPr/>
          <p:nvPr/>
        </p:nvSpPr>
        <p:spPr>
          <a:xfrm>
            <a:off x="2028173" y="1885466"/>
            <a:ext cx="828564" cy="24744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Muskingum Simulations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73" name="肘形连接符 72">
            <a:extLst>
              <a:ext uri="{FF2B5EF4-FFF2-40B4-BE49-F238E27FC236}">
                <a16:creationId xmlns:a16="http://schemas.microsoft.com/office/drawing/2014/main" id="{3A605F51-C57B-AB64-5172-64B2E22ACA87}"/>
              </a:ext>
            </a:extLst>
          </p:cNvPr>
          <p:cNvCxnSpPr>
            <a:cxnSpLocks/>
            <a:stCxn id="61" idx="2"/>
            <a:endCxn id="66" idx="0"/>
          </p:cNvCxnSpPr>
          <p:nvPr/>
        </p:nvCxnSpPr>
        <p:spPr>
          <a:xfrm rot="5400000">
            <a:off x="883738" y="1329343"/>
            <a:ext cx="131832" cy="980417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肘形连接符 77">
            <a:extLst>
              <a:ext uri="{FF2B5EF4-FFF2-40B4-BE49-F238E27FC236}">
                <a16:creationId xmlns:a16="http://schemas.microsoft.com/office/drawing/2014/main" id="{8D84A32E-0DB1-7CF3-698C-59C2B6108292}"/>
              </a:ext>
            </a:extLst>
          </p:cNvPr>
          <p:cNvCxnSpPr>
            <a:cxnSpLocks/>
            <a:stCxn id="61" idx="2"/>
            <a:endCxn id="67" idx="0"/>
          </p:cNvCxnSpPr>
          <p:nvPr/>
        </p:nvCxnSpPr>
        <p:spPr>
          <a:xfrm rot="5400000">
            <a:off x="1372393" y="1817998"/>
            <a:ext cx="131832" cy="3107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肘形连接符 81">
            <a:extLst>
              <a:ext uri="{FF2B5EF4-FFF2-40B4-BE49-F238E27FC236}">
                <a16:creationId xmlns:a16="http://schemas.microsoft.com/office/drawing/2014/main" id="{DE328602-E259-4476-7050-C46C4A7F4F5C}"/>
              </a:ext>
            </a:extLst>
          </p:cNvPr>
          <p:cNvCxnSpPr>
            <a:cxnSpLocks/>
            <a:stCxn id="61" idx="2"/>
            <a:endCxn id="72" idx="0"/>
          </p:cNvCxnSpPr>
          <p:nvPr/>
        </p:nvCxnSpPr>
        <p:spPr>
          <a:xfrm rot="16200000" flipH="1">
            <a:off x="1875242" y="1318254"/>
            <a:ext cx="131832" cy="1002593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圆角矩形 94">
            <a:extLst>
              <a:ext uri="{FF2B5EF4-FFF2-40B4-BE49-F238E27FC236}">
                <a16:creationId xmlns:a16="http://schemas.microsoft.com/office/drawing/2014/main" id="{F80E7F59-8A14-191E-3CA3-B7F450945C15}"/>
              </a:ext>
            </a:extLst>
          </p:cNvPr>
          <p:cNvSpPr/>
          <p:nvPr/>
        </p:nvSpPr>
        <p:spPr>
          <a:xfrm>
            <a:off x="45163" y="2242221"/>
            <a:ext cx="828564" cy="24744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Streamflow Estimates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7" name="圆角矩形 96">
            <a:extLst>
              <a:ext uri="{FF2B5EF4-FFF2-40B4-BE49-F238E27FC236}">
                <a16:creationId xmlns:a16="http://schemas.microsoft.com/office/drawing/2014/main" id="{20516EB1-F110-4724-9B11-7CB28E29D22B}"/>
              </a:ext>
            </a:extLst>
          </p:cNvPr>
          <p:cNvSpPr/>
          <p:nvPr/>
        </p:nvSpPr>
        <p:spPr>
          <a:xfrm>
            <a:off x="1022473" y="2251986"/>
            <a:ext cx="828564" cy="24744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Streamflow Estimates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9" name="圆角矩形 98">
            <a:extLst>
              <a:ext uri="{FF2B5EF4-FFF2-40B4-BE49-F238E27FC236}">
                <a16:creationId xmlns:a16="http://schemas.microsoft.com/office/drawing/2014/main" id="{4AA92B83-26D8-7689-AC00-F3BC31ED3344}"/>
              </a:ext>
            </a:extLst>
          </p:cNvPr>
          <p:cNvSpPr/>
          <p:nvPr/>
        </p:nvSpPr>
        <p:spPr>
          <a:xfrm>
            <a:off x="2025407" y="2242221"/>
            <a:ext cx="828564" cy="24744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Streamflow Estimates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00" name="直线箭头连接符 99">
            <a:extLst>
              <a:ext uri="{FF2B5EF4-FFF2-40B4-BE49-F238E27FC236}">
                <a16:creationId xmlns:a16="http://schemas.microsoft.com/office/drawing/2014/main" id="{D10727E5-A157-9FA2-F60B-07187E537D39}"/>
              </a:ext>
            </a:extLst>
          </p:cNvPr>
          <p:cNvCxnSpPr>
            <a:cxnSpLocks/>
            <a:stCxn id="66" idx="2"/>
            <a:endCxn id="95" idx="0"/>
          </p:cNvCxnSpPr>
          <p:nvPr/>
        </p:nvCxnSpPr>
        <p:spPr>
          <a:xfrm>
            <a:off x="459445" y="2132910"/>
            <a:ext cx="0" cy="109313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9A2DA6EE-D981-E19A-3878-3FEF1B63265A}"/>
              </a:ext>
            </a:extLst>
          </p:cNvPr>
          <p:cNvCxnSpPr>
            <a:cxnSpLocks/>
            <a:stCxn id="67" idx="2"/>
            <a:endCxn id="97" idx="0"/>
          </p:cNvCxnSpPr>
          <p:nvPr/>
        </p:nvCxnSpPr>
        <p:spPr>
          <a:xfrm>
            <a:off x="1436755" y="2132908"/>
            <a:ext cx="0" cy="119078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D2AFDD7D-6FA8-2DA3-E4A8-25639B0362FD}"/>
              </a:ext>
            </a:extLst>
          </p:cNvPr>
          <p:cNvCxnSpPr>
            <a:cxnSpLocks/>
            <a:stCxn id="72" idx="2"/>
            <a:endCxn id="99" idx="0"/>
          </p:cNvCxnSpPr>
          <p:nvPr/>
        </p:nvCxnSpPr>
        <p:spPr>
          <a:xfrm flipH="1">
            <a:off x="2439689" y="2132910"/>
            <a:ext cx="2766" cy="109313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BA0DE154-29A9-80F4-3F16-05B75A4A530B}"/>
              </a:ext>
            </a:extLst>
          </p:cNvPr>
          <p:cNvSpPr/>
          <p:nvPr/>
        </p:nvSpPr>
        <p:spPr>
          <a:xfrm>
            <a:off x="45163" y="2598692"/>
            <a:ext cx="828564" cy="166643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Skill Scores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圆角矩形 111">
            <a:extLst>
              <a:ext uri="{FF2B5EF4-FFF2-40B4-BE49-F238E27FC236}">
                <a16:creationId xmlns:a16="http://schemas.microsoft.com/office/drawing/2014/main" id="{CC4ABA64-9351-A034-116F-712DF372DA17}"/>
              </a:ext>
            </a:extLst>
          </p:cNvPr>
          <p:cNvSpPr/>
          <p:nvPr/>
        </p:nvSpPr>
        <p:spPr>
          <a:xfrm>
            <a:off x="1022473" y="2598692"/>
            <a:ext cx="828564" cy="166643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Skill Scores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圆角矩形 115">
            <a:extLst>
              <a:ext uri="{FF2B5EF4-FFF2-40B4-BE49-F238E27FC236}">
                <a16:creationId xmlns:a16="http://schemas.microsoft.com/office/drawing/2014/main" id="{19AE437B-5405-1F16-A223-42E5DA9C9F5B}"/>
              </a:ext>
            </a:extLst>
          </p:cNvPr>
          <p:cNvSpPr/>
          <p:nvPr/>
        </p:nvSpPr>
        <p:spPr>
          <a:xfrm>
            <a:off x="2025407" y="2598692"/>
            <a:ext cx="828564" cy="166643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100 Skill Scores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0F83300B-3F9E-56F3-D85C-41D6585709C2}"/>
              </a:ext>
            </a:extLst>
          </p:cNvPr>
          <p:cNvCxnSpPr>
            <a:cxnSpLocks/>
            <a:stCxn id="95" idx="2"/>
            <a:endCxn id="111" idx="0"/>
          </p:cNvCxnSpPr>
          <p:nvPr/>
        </p:nvCxnSpPr>
        <p:spPr>
          <a:xfrm>
            <a:off x="459445" y="2489663"/>
            <a:ext cx="0" cy="109028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B761A91F-6833-5945-98AB-C90F6C36D6AF}"/>
              </a:ext>
            </a:extLst>
          </p:cNvPr>
          <p:cNvCxnSpPr>
            <a:cxnSpLocks/>
            <a:stCxn id="97" idx="2"/>
            <a:endCxn id="112" idx="0"/>
          </p:cNvCxnSpPr>
          <p:nvPr/>
        </p:nvCxnSpPr>
        <p:spPr>
          <a:xfrm>
            <a:off x="1436755" y="2499429"/>
            <a:ext cx="0" cy="99263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77059E06-917F-2261-4080-C4C9E6FAD710}"/>
              </a:ext>
            </a:extLst>
          </p:cNvPr>
          <p:cNvCxnSpPr>
            <a:cxnSpLocks/>
            <a:stCxn id="99" idx="2"/>
            <a:endCxn id="116" idx="0"/>
          </p:cNvCxnSpPr>
          <p:nvPr/>
        </p:nvCxnSpPr>
        <p:spPr>
          <a:xfrm>
            <a:off x="2439689" y="2489663"/>
            <a:ext cx="0" cy="109028"/>
          </a:xfrm>
          <a:prstGeom prst="straightConnector1">
            <a:avLst/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1" name="圆角矩形 130">
            <a:extLst>
              <a:ext uri="{FF2B5EF4-FFF2-40B4-BE49-F238E27FC236}">
                <a16:creationId xmlns:a16="http://schemas.microsoft.com/office/drawing/2014/main" id="{631C1D8D-69CC-067C-9A64-196379E1F579}"/>
              </a:ext>
            </a:extLst>
          </p:cNvPr>
          <p:cNvSpPr/>
          <p:nvPr/>
        </p:nvSpPr>
        <p:spPr>
          <a:xfrm>
            <a:off x="187236" y="2909063"/>
            <a:ext cx="2505252" cy="177087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Statistical test for differences in skill scores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2" name="肘形连接符 131">
            <a:extLst>
              <a:ext uri="{FF2B5EF4-FFF2-40B4-BE49-F238E27FC236}">
                <a16:creationId xmlns:a16="http://schemas.microsoft.com/office/drawing/2014/main" id="{3A6F5951-0113-6106-5C32-56907B95FB13}"/>
              </a:ext>
            </a:extLst>
          </p:cNvPr>
          <p:cNvCxnSpPr>
            <a:cxnSpLocks/>
            <a:stCxn id="111" idx="2"/>
            <a:endCxn id="131" idx="0"/>
          </p:cNvCxnSpPr>
          <p:nvPr/>
        </p:nvCxnSpPr>
        <p:spPr>
          <a:xfrm rot="16200000" flipH="1">
            <a:off x="877789" y="2346990"/>
            <a:ext cx="143728" cy="980417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肘形连接符 134">
            <a:extLst>
              <a:ext uri="{FF2B5EF4-FFF2-40B4-BE49-F238E27FC236}">
                <a16:creationId xmlns:a16="http://schemas.microsoft.com/office/drawing/2014/main" id="{9B750011-CAEB-CD9E-8776-C06BC3A071BB}"/>
              </a:ext>
            </a:extLst>
          </p:cNvPr>
          <p:cNvCxnSpPr>
            <a:cxnSpLocks/>
            <a:stCxn id="112" idx="2"/>
            <a:endCxn id="131" idx="0"/>
          </p:cNvCxnSpPr>
          <p:nvPr/>
        </p:nvCxnSpPr>
        <p:spPr>
          <a:xfrm rot="16200000" flipH="1">
            <a:off x="1366444" y="2835645"/>
            <a:ext cx="143728" cy="3107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肘形连接符 137">
            <a:extLst>
              <a:ext uri="{FF2B5EF4-FFF2-40B4-BE49-F238E27FC236}">
                <a16:creationId xmlns:a16="http://schemas.microsoft.com/office/drawing/2014/main" id="{23B3487E-6980-2381-5B1C-E1A02BAB130C}"/>
              </a:ext>
            </a:extLst>
          </p:cNvPr>
          <p:cNvCxnSpPr>
            <a:cxnSpLocks/>
            <a:stCxn id="116" idx="2"/>
            <a:endCxn id="131" idx="0"/>
          </p:cNvCxnSpPr>
          <p:nvPr/>
        </p:nvCxnSpPr>
        <p:spPr>
          <a:xfrm rot="5400000">
            <a:off x="1867912" y="2337286"/>
            <a:ext cx="143728" cy="999827"/>
          </a:xfrm>
          <a:prstGeom prst="bentConnector3">
            <a:avLst>
              <a:gd name="adj1" fmla="val 50000"/>
            </a:avLst>
          </a:prstGeom>
          <a:ln w="9525">
            <a:tailEnd type="triangl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圆角矩形 160">
            <a:extLst>
              <a:ext uri="{FF2B5EF4-FFF2-40B4-BE49-F238E27FC236}">
                <a16:creationId xmlns:a16="http://schemas.microsoft.com/office/drawing/2014/main" id="{66C9224A-965F-1DB6-8EE5-0BCB2A360C80}"/>
              </a:ext>
            </a:extLst>
          </p:cNvPr>
          <p:cNvSpPr/>
          <p:nvPr/>
        </p:nvSpPr>
        <p:spPr>
          <a:xfrm>
            <a:off x="2121462" y="277039"/>
            <a:ext cx="636455" cy="1800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WRF EXPN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圆角矩形 161">
            <a:extLst>
              <a:ext uri="{FF2B5EF4-FFF2-40B4-BE49-F238E27FC236}">
                <a16:creationId xmlns:a16="http://schemas.microsoft.com/office/drawing/2014/main" id="{EE29D464-8D07-7134-3AC9-666B3CE49FA7}"/>
              </a:ext>
            </a:extLst>
          </p:cNvPr>
          <p:cNvSpPr/>
          <p:nvPr/>
        </p:nvSpPr>
        <p:spPr>
          <a:xfrm>
            <a:off x="1116346" y="277039"/>
            <a:ext cx="636455" cy="18000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zh-CN" sz="800" dirty="0">
                <a:latin typeface="Arial" panose="020B0604020202020204" pitchFamily="34" charset="0"/>
                <a:cs typeface="Arial" panose="020B0604020202020204" pitchFamily="34" charset="0"/>
              </a:rPr>
              <a:t>WRF EXP…</a:t>
            </a:r>
            <a:endParaRPr kumimoji="1" lang="zh-CN" altLang="en-US" sz="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06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</TotalTime>
  <Words>76</Words>
  <Application>Microsoft Macintosh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Hui Zheng</dc:creator>
  <cp:lastModifiedBy>Hui Zheng</cp:lastModifiedBy>
  <cp:revision>6</cp:revision>
  <dcterms:created xsi:type="dcterms:W3CDTF">2024-07-27T05:46:33Z</dcterms:created>
  <dcterms:modified xsi:type="dcterms:W3CDTF">2025-10-09T02:21:43Z</dcterms:modified>
</cp:coreProperties>
</file>